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84" r:id="rId5"/>
    <p:sldId id="282" r:id="rId6"/>
    <p:sldId id="263" r:id="rId7"/>
    <p:sldId id="264" r:id="rId8"/>
    <p:sldId id="269" r:id="rId9"/>
    <p:sldId id="283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7083B5-5B9D-44DC-96B4-34711BFC5665}">
          <p14:sldIdLst>
            <p14:sldId id="256"/>
            <p14:sldId id="257"/>
            <p14:sldId id="284"/>
            <p14:sldId id="282"/>
            <p14:sldId id="263"/>
            <p14:sldId id="264"/>
          </p14:sldIdLst>
        </p14:section>
        <p14:section name="Graveyard" id="{8B77F19B-F957-4F51-933B-F0938B90A48A}">
          <p14:sldIdLst>
            <p14:sldId id="269"/>
            <p14:sldId id="283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75593" autoAdjust="0"/>
  </p:normalViewPr>
  <p:slideViewPr>
    <p:cSldViewPr snapToGrid="0">
      <p:cViewPr varScale="1">
        <p:scale>
          <a:sx n="122" d="100"/>
          <a:sy n="122" d="100"/>
        </p:scale>
        <p:origin x="15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4191A0-19FC-4D58-8190-7EFC33068CE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D8C83C4-61E4-4C25-8B6A-BB49333C8E1A}">
      <dgm:prSet/>
      <dgm:spPr/>
      <dgm:t>
        <a:bodyPr/>
        <a:lstStyle/>
        <a:p>
          <a:r>
            <a:rPr lang="en-US" dirty="0"/>
            <a:t>Nexus Consulting’s Current Challenges</a:t>
          </a:r>
        </a:p>
      </dgm:t>
    </dgm:pt>
    <dgm:pt modelId="{DB6BDE72-5DB8-462D-8B86-368E9C88A26B}" type="parTrans" cxnId="{970A72CC-6170-416B-A157-84CFC3F5853D}">
      <dgm:prSet/>
      <dgm:spPr/>
      <dgm:t>
        <a:bodyPr/>
        <a:lstStyle/>
        <a:p>
          <a:endParaRPr lang="en-US"/>
        </a:p>
      </dgm:t>
    </dgm:pt>
    <dgm:pt modelId="{A4877EA1-5927-41A1-8EFC-6A841CC3B1D8}" type="sibTrans" cxnId="{970A72CC-6170-416B-A157-84CFC3F5853D}">
      <dgm:prSet/>
      <dgm:spPr/>
      <dgm:t>
        <a:bodyPr/>
        <a:lstStyle/>
        <a:p>
          <a:endParaRPr lang="en-US"/>
        </a:p>
      </dgm:t>
    </dgm:pt>
    <dgm:pt modelId="{14F068F0-3280-4E76-816E-70873A0B5560}">
      <dgm:prSet/>
      <dgm:spPr/>
      <dgm:t>
        <a:bodyPr/>
        <a:lstStyle/>
        <a:p>
          <a:r>
            <a:rPr lang="en-US" dirty="0"/>
            <a:t>Your Goals &amp; How monday.com Can Help</a:t>
          </a:r>
        </a:p>
      </dgm:t>
    </dgm:pt>
    <dgm:pt modelId="{869F739C-AE4F-4099-8114-9F851DD9820A}" type="parTrans" cxnId="{417AF8B2-F371-46E0-8F9C-E1FC36F56356}">
      <dgm:prSet/>
      <dgm:spPr/>
      <dgm:t>
        <a:bodyPr/>
        <a:lstStyle/>
        <a:p>
          <a:endParaRPr lang="en-US"/>
        </a:p>
      </dgm:t>
    </dgm:pt>
    <dgm:pt modelId="{DFC63184-47B9-4C4B-9A4C-03841F3D1BB8}" type="sibTrans" cxnId="{417AF8B2-F371-46E0-8F9C-E1FC36F56356}">
      <dgm:prSet/>
      <dgm:spPr/>
      <dgm:t>
        <a:bodyPr/>
        <a:lstStyle/>
        <a:p>
          <a:endParaRPr lang="en-US"/>
        </a:p>
      </dgm:t>
    </dgm:pt>
    <dgm:pt modelId="{1A35901F-5239-468F-B015-A66DF4A6A2A6}">
      <dgm:prSet/>
      <dgm:spPr/>
      <dgm:t>
        <a:bodyPr/>
        <a:lstStyle/>
        <a:p>
          <a:r>
            <a:rPr lang="en-US" dirty="0"/>
            <a:t>Dashboard Overview</a:t>
          </a:r>
        </a:p>
      </dgm:t>
    </dgm:pt>
    <dgm:pt modelId="{BFD62246-7788-41BD-A88B-D01F57AAB706}" type="parTrans" cxnId="{F1709A0A-3827-4865-AAE7-D491E05D4524}">
      <dgm:prSet/>
      <dgm:spPr/>
      <dgm:t>
        <a:bodyPr/>
        <a:lstStyle/>
        <a:p>
          <a:endParaRPr lang="en-US"/>
        </a:p>
      </dgm:t>
    </dgm:pt>
    <dgm:pt modelId="{F4C23C1F-9591-42EB-A065-55C6FE0C0328}" type="sibTrans" cxnId="{F1709A0A-3827-4865-AAE7-D491E05D4524}">
      <dgm:prSet/>
      <dgm:spPr/>
      <dgm:t>
        <a:bodyPr/>
        <a:lstStyle/>
        <a:p>
          <a:endParaRPr lang="en-US"/>
        </a:p>
      </dgm:t>
    </dgm:pt>
    <dgm:pt modelId="{86B7855B-D30C-4290-A4DA-DCEF99CB3618}">
      <dgm:prSet/>
      <dgm:spPr/>
      <dgm:t>
        <a:bodyPr/>
        <a:lstStyle/>
        <a:p>
          <a:r>
            <a:rPr lang="en-US" dirty="0"/>
            <a:t>Migration Approach/Resulting Environment</a:t>
          </a:r>
        </a:p>
      </dgm:t>
    </dgm:pt>
    <dgm:pt modelId="{282FC121-6759-45F3-80B8-0B5720599A5C}" type="parTrans" cxnId="{1C991720-4CE8-43EB-B34A-74CD3759FF6E}">
      <dgm:prSet/>
      <dgm:spPr/>
      <dgm:t>
        <a:bodyPr/>
        <a:lstStyle/>
        <a:p>
          <a:endParaRPr lang="en-US"/>
        </a:p>
      </dgm:t>
    </dgm:pt>
    <dgm:pt modelId="{7D1EBBC7-512B-4673-A97C-5AA17047180C}" type="sibTrans" cxnId="{1C991720-4CE8-43EB-B34A-74CD3759FF6E}">
      <dgm:prSet/>
      <dgm:spPr/>
      <dgm:t>
        <a:bodyPr/>
        <a:lstStyle/>
        <a:p>
          <a:endParaRPr lang="en-US"/>
        </a:p>
      </dgm:t>
    </dgm:pt>
    <dgm:pt modelId="{6C27FA95-152F-4F2D-97FD-9D9A08416AD7}">
      <dgm:prSet/>
      <dgm:spPr/>
      <dgm:t>
        <a:bodyPr/>
        <a:lstStyle/>
        <a:p>
          <a:r>
            <a:rPr lang="en-US"/>
            <a:t>Validation Checks</a:t>
          </a:r>
          <a:endParaRPr lang="en-US" dirty="0"/>
        </a:p>
      </dgm:t>
    </dgm:pt>
    <dgm:pt modelId="{0FACEBDA-4771-487E-9D73-79AA89DEC96B}" type="parTrans" cxnId="{BD9BD338-FE45-4CE7-BA01-2A921DCA4EB4}">
      <dgm:prSet/>
      <dgm:spPr/>
      <dgm:t>
        <a:bodyPr/>
        <a:lstStyle/>
        <a:p>
          <a:endParaRPr lang="en-US"/>
        </a:p>
      </dgm:t>
    </dgm:pt>
    <dgm:pt modelId="{D93F86B0-A4C6-4692-9EB1-B125D4898036}" type="sibTrans" cxnId="{BD9BD338-FE45-4CE7-BA01-2A921DCA4EB4}">
      <dgm:prSet/>
      <dgm:spPr/>
      <dgm:t>
        <a:bodyPr/>
        <a:lstStyle/>
        <a:p>
          <a:endParaRPr lang="en-US"/>
        </a:p>
      </dgm:t>
    </dgm:pt>
    <dgm:pt modelId="{C182FB98-791B-4F4D-AFAC-D4EAF12BA5C8}">
      <dgm:prSet/>
      <dgm:spPr/>
      <dgm:t>
        <a:bodyPr/>
        <a:lstStyle/>
        <a:p>
          <a:r>
            <a:rPr lang="en-US"/>
            <a:t>Q&amp;A</a:t>
          </a:r>
          <a:endParaRPr lang="en-US" dirty="0"/>
        </a:p>
      </dgm:t>
    </dgm:pt>
    <dgm:pt modelId="{C9F156C8-6D25-42EE-9CC2-AD1575D06A54}" type="parTrans" cxnId="{A52DD913-271B-4C69-A57C-DFAB532EAF89}">
      <dgm:prSet/>
      <dgm:spPr/>
      <dgm:t>
        <a:bodyPr/>
        <a:lstStyle/>
        <a:p>
          <a:endParaRPr lang="en-US"/>
        </a:p>
      </dgm:t>
    </dgm:pt>
    <dgm:pt modelId="{F92F62F8-CCCA-498F-89E1-5904D38C9B0B}" type="sibTrans" cxnId="{A52DD913-271B-4C69-A57C-DFAB532EAF89}">
      <dgm:prSet/>
      <dgm:spPr/>
      <dgm:t>
        <a:bodyPr/>
        <a:lstStyle/>
        <a:p>
          <a:endParaRPr lang="en-US"/>
        </a:p>
      </dgm:t>
    </dgm:pt>
    <dgm:pt modelId="{07D5555D-D184-4120-84C5-E741F1F8E4D6}" type="pres">
      <dgm:prSet presAssocID="{8D4191A0-19FC-4D58-8190-7EFC33068CEE}" presName="vert0" presStyleCnt="0">
        <dgm:presLayoutVars>
          <dgm:dir/>
          <dgm:animOne val="branch"/>
          <dgm:animLvl val="lvl"/>
        </dgm:presLayoutVars>
      </dgm:prSet>
      <dgm:spPr/>
    </dgm:pt>
    <dgm:pt modelId="{6E4B4AD0-9A93-4122-98A3-A0928F7773EB}" type="pres">
      <dgm:prSet presAssocID="{5D8C83C4-61E4-4C25-8B6A-BB49333C8E1A}" presName="thickLine" presStyleLbl="alignNode1" presStyleIdx="0" presStyleCnt="6"/>
      <dgm:spPr/>
    </dgm:pt>
    <dgm:pt modelId="{BEFCAB07-EF95-474A-9AA5-F0F8595D9A6F}" type="pres">
      <dgm:prSet presAssocID="{5D8C83C4-61E4-4C25-8B6A-BB49333C8E1A}" presName="horz1" presStyleCnt="0"/>
      <dgm:spPr/>
    </dgm:pt>
    <dgm:pt modelId="{10738926-C2CA-4640-8051-ACC72E511647}" type="pres">
      <dgm:prSet presAssocID="{5D8C83C4-61E4-4C25-8B6A-BB49333C8E1A}" presName="tx1" presStyleLbl="revTx" presStyleIdx="0" presStyleCnt="6"/>
      <dgm:spPr/>
    </dgm:pt>
    <dgm:pt modelId="{3E31685E-0B84-4E68-84BE-B3D3D33C3868}" type="pres">
      <dgm:prSet presAssocID="{5D8C83C4-61E4-4C25-8B6A-BB49333C8E1A}" presName="vert1" presStyleCnt="0"/>
      <dgm:spPr/>
    </dgm:pt>
    <dgm:pt modelId="{7EE04C15-280F-4CAF-9001-F9C35796103F}" type="pres">
      <dgm:prSet presAssocID="{14F068F0-3280-4E76-816E-70873A0B5560}" presName="thickLine" presStyleLbl="alignNode1" presStyleIdx="1" presStyleCnt="6"/>
      <dgm:spPr/>
    </dgm:pt>
    <dgm:pt modelId="{C65B3BA3-5EE1-4750-9BB2-474261F0492C}" type="pres">
      <dgm:prSet presAssocID="{14F068F0-3280-4E76-816E-70873A0B5560}" presName="horz1" presStyleCnt="0"/>
      <dgm:spPr/>
    </dgm:pt>
    <dgm:pt modelId="{7CF583BD-72A1-4D9B-9B90-6C8AF7844F15}" type="pres">
      <dgm:prSet presAssocID="{14F068F0-3280-4E76-816E-70873A0B5560}" presName="tx1" presStyleLbl="revTx" presStyleIdx="1" presStyleCnt="6"/>
      <dgm:spPr/>
    </dgm:pt>
    <dgm:pt modelId="{A27EBED7-1719-49AC-AEDE-0EB4F307F65E}" type="pres">
      <dgm:prSet presAssocID="{14F068F0-3280-4E76-816E-70873A0B5560}" presName="vert1" presStyleCnt="0"/>
      <dgm:spPr/>
    </dgm:pt>
    <dgm:pt modelId="{067E88B6-B641-48D9-B5CD-02831E32CB8A}" type="pres">
      <dgm:prSet presAssocID="{86B7855B-D30C-4290-A4DA-DCEF99CB3618}" presName="thickLine" presStyleLbl="alignNode1" presStyleIdx="2" presStyleCnt="6"/>
      <dgm:spPr/>
    </dgm:pt>
    <dgm:pt modelId="{D088CFAE-7CB1-4E4C-90B2-E21F79B62481}" type="pres">
      <dgm:prSet presAssocID="{86B7855B-D30C-4290-A4DA-DCEF99CB3618}" presName="horz1" presStyleCnt="0"/>
      <dgm:spPr/>
    </dgm:pt>
    <dgm:pt modelId="{36B5FB29-3870-4B33-981E-85C72BA57EAE}" type="pres">
      <dgm:prSet presAssocID="{86B7855B-D30C-4290-A4DA-DCEF99CB3618}" presName="tx1" presStyleLbl="revTx" presStyleIdx="2" presStyleCnt="6"/>
      <dgm:spPr/>
    </dgm:pt>
    <dgm:pt modelId="{770C90AE-498D-4034-AB66-3A9F24E53D01}" type="pres">
      <dgm:prSet presAssocID="{86B7855B-D30C-4290-A4DA-DCEF99CB3618}" presName="vert1" presStyleCnt="0"/>
      <dgm:spPr/>
    </dgm:pt>
    <dgm:pt modelId="{E74700A7-196C-4487-9081-A36F35CBF83D}" type="pres">
      <dgm:prSet presAssocID="{1A35901F-5239-468F-B015-A66DF4A6A2A6}" presName="thickLine" presStyleLbl="alignNode1" presStyleIdx="3" presStyleCnt="6"/>
      <dgm:spPr/>
    </dgm:pt>
    <dgm:pt modelId="{D2C33480-1B8E-4ED0-9D2E-9DFE1C1A6696}" type="pres">
      <dgm:prSet presAssocID="{1A35901F-5239-468F-B015-A66DF4A6A2A6}" presName="horz1" presStyleCnt="0"/>
      <dgm:spPr/>
    </dgm:pt>
    <dgm:pt modelId="{294AAE66-76AB-4F4D-9440-FAB3C7B90AEE}" type="pres">
      <dgm:prSet presAssocID="{1A35901F-5239-468F-B015-A66DF4A6A2A6}" presName="tx1" presStyleLbl="revTx" presStyleIdx="3" presStyleCnt="6"/>
      <dgm:spPr/>
    </dgm:pt>
    <dgm:pt modelId="{28496A6C-C5F1-4AE0-B7A0-70AAAA9EAB7F}" type="pres">
      <dgm:prSet presAssocID="{1A35901F-5239-468F-B015-A66DF4A6A2A6}" presName="vert1" presStyleCnt="0"/>
      <dgm:spPr/>
    </dgm:pt>
    <dgm:pt modelId="{304ED4ED-301E-4AAC-A166-BC246D3A5D27}" type="pres">
      <dgm:prSet presAssocID="{6C27FA95-152F-4F2D-97FD-9D9A08416AD7}" presName="thickLine" presStyleLbl="alignNode1" presStyleIdx="4" presStyleCnt="6"/>
      <dgm:spPr/>
    </dgm:pt>
    <dgm:pt modelId="{6D13435E-6517-4AAE-9144-1956E7A8B33B}" type="pres">
      <dgm:prSet presAssocID="{6C27FA95-152F-4F2D-97FD-9D9A08416AD7}" presName="horz1" presStyleCnt="0"/>
      <dgm:spPr/>
    </dgm:pt>
    <dgm:pt modelId="{1AA690A2-6477-464A-8F1D-02366951DE2D}" type="pres">
      <dgm:prSet presAssocID="{6C27FA95-152F-4F2D-97FD-9D9A08416AD7}" presName="tx1" presStyleLbl="revTx" presStyleIdx="4" presStyleCnt="6"/>
      <dgm:spPr/>
    </dgm:pt>
    <dgm:pt modelId="{DA3BE914-0289-4D27-A497-BEE23BD31548}" type="pres">
      <dgm:prSet presAssocID="{6C27FA95-152F-4F2D-97FD-9D9A08416AD7}" presName="vert1" presStyleCnt="0"/>
      <dgm:spPr/>
    </dgm:pt>
    <dgm:pt modelId="{B116AB54-37AF-4307-8808-3B10EB16E216}" type="pres">
      <dgm:prSet presAssocID="{C182FB98-791B-4F4D-AFAC-D4EAF12BA5C8}" presName="thickLine" presStyleLbl="alignNode1" presStyleIdx="5" presStyleCnt="6"/>
      <dgm:spPr/>
    </dgm:pt>
    <dgm:pt modelId="{DCC88818-C696-4017-83C8-0A7D78BEA588}" type="pres">
      <dgm:prSet presAssocID="{C182FB98-791B-4F4D-AFAC-D4EAF12BA5C8}" presName="horz1" presStyleCnt="0"/>
      <dgm:spPr/>
    </dgm:pt>
    <dgm:pt modelId="{CBAF0C3F-93B2-4533-BB39-E52656E5D70D}" type="pres">
      <dgm:prSet presAssocID="{C182FB98-791B-4F4D-AFAC-D4EAF12BA5C8}" presName="tx1" presStyleLbl="revTx" presStyleIdx="5" presStyleCnt="6"/>
      <dgm:spPr/>
    </dgm:pt>
    <dgm:pt modelId="{21830B3F-104D-4CA4-ADDA-DD62E1F3D829}" type="pres">
      <dgm:prSet presAssocID="{C182FB98-791B-4F4D-AFAC-D4EAF12BA5C8}" presName="vert1" presStyleCnt="0"/>
      <dgm:spPr/>
    </dgm:pt>
  </dgm:ptLst>
  <dgm:cxnLst>
    <dgm:cxn modelId="{F1709A0A-3827-4865-AAE7-D491E05D4524}" srcId="{8D4191A0-19FC-4D58-8190-7EFC33068CEE}" destId="{1A35901F-5239-468F-B015-A66DF4A6A2A6}" srcOrd="3" destOrd="0" parTransId="{BFD62246-7788-41BD-A88B-D01F57AAB706}" sibTransId="{F4C23C1F-9591-42EB-A065-55C6FE0C0328}"/>
    <dgm:cxn modelId="{A52DD913-271B-4C69-A57C-DFAB532EAF89}" srcId="{8D4191A0-19FC-4D58-8190-7EFC33068CEE}" destId="{C182FB98-791B-4F4D-AFAC-D4EAF12BA5C8}" srcOrd="5" destOrd="0" parTransId="{C9F156C8-6D25-42EE-9CC2-AD1575D06A54}" sibTransId="{F92F62F8-CCCA-498F-89E1-5904D38C9B0B}"/>
    <dgm:cxn modelId="{1C991720-4CE8-43EB-B34A-74CD3759FF6E}" srcId="{8D4191A0-19FC-4D58-8190-7EFC33068CEE}" destId="{86B7855B-D30C-4290-A4DA-DCEF99CB3618}" srcOrd="2" destOrd="0" parTransId="{282FC121-6759-45F3-80B8-0B5720599A5C}" sibTransId="{7D1EBBC7-512B-4673-A97C-5AA17047180C}"/>
    <dgm:cxn modelId="{9FF39A28-07D9-4757-85E6-B98B44D85EB6}" type="presOf" srcId="{8D4191A0-19FC-4D58-8190-7EFC33068CEE}" destId="{07D5555D-D184-4120-84C5-E741F1F8E4D6}" srcOrd="0" destOrd="0" presId="urn:microsoft.com/office/officeart/2008/layout/LinedList"/>
    <dgm:cxn modelId="{BD9BD338-FE45-4CE7-BA01-2A921DCA4EB4}" srcId="{8D4191A0-19FC-4D58-8190-7EFC33068CEE}" destId="{6C27FA95-152F-4F2D-97FD-9D9A08416AD7}" srcOrd="4" destOrd="0" parTransId="{0FACEBDA-4771-487E-9D73-79AA89DEC96B}" sibTransId="{D93F86B0-A4C6-4692-9EB1-B125D4898036}"/>
    <dgm:cxn modelId="{F8712043-566C-463F-9E94-752DC914F325}" type="presOf" srcId="{14F068F0-3280-4E76-816E-70873A0B5560}" destId="{7CF583BD-72A1-4D9B-9B90-6C8AF7844F15}" srcOrd="0" destOrd="0" presId="urn:microsoft.com/office/officeart/2008/layout/LinedList"/>
    <dgm:cxn modelId="{96AB4F63-290A-4CE6-8EC4-BFC83D7659CB}" type="presOf" srcId="{C182FB98-791B-4F4D-AFAC-D4EAF12BA5C8}" destId="{CBAF0C3F-93B2-4533-BB39-E52656E5D70D}" srcOrd="0" destOrd="0" presId="urn:microsoft.com/office/officeart/2008/layout/LinedList"/>
    <dgm:cxn modelId="{417AF8B2-F371-46E0-8F9C-E1FC36F56356}" srcId="{8D4191A0-19FC-4D58-8190-7EFC33068CEE}" destId="{14F068F0-3280-4E76-816E-70873A0B5560}" srcOrd="1" destOrd="0" parTransId="{869F739C-AE4F-4099-8114-9F851DD9820A}" sibTransId="{DFC63184-47B9-4C4B-9A4C-03841F3D1BB8}"/>
    <dgm:cxn modelId="{227379B5-9E03-43D0-96DB-EDD13386ED8A}" type="presOf" srcId="{1A35901F-5239-468F-B015-A66DF4A6A2A6}" destId="{294AAE66-76AB-4F4D-9440-FAB3C7B90AEE}" srcOrd="0" destOrd="0" presId="urn:microsoft.com/office/officeart/2008/layout/LinedList"/>
    <dgm:cxn modelId="{970A72CC-6170-416B-A157-84CFC3F5853D}" srcId="{8D4191A0-19FC-4D58-8190-7EFC33068CEE}" destId="{5D8C83C4-61E4-4C25-8B6A-BB49333C8E1A}" srcOrd="0" destOrd="0" parTransId="{DB6BDE72-5DB8-462D-8B86-368E9C88A26B}" sibTransId="{A4877EA1-5927-41A1-8EFC-6A841CC3B1D8}"/>
    <dgm:cxn modelId="{83B22AD2-639D-4455-84AD-351DF4074E28}" type="presOf" srcId="{86B7855B-D30C-4290-A4DA-DCEF99CB3618}" destId="{36B5FB29-3870-4B33-981E-85C72BA57EAE}" srcOrd="0" destOrd="0" presId="urn:microsoft.com/office/officeart/2008/layout/LinedList"/>
    <dgm:cxn modelId="{0FECCBE8-496C-4362-B549-A76CDA088B5E}" type="presOf" srcId="{5D8C83C4-61E4-4C25-8B6A-BB49333C8E1A}" destId="{10738926-C2CA-4640-8051-ACC72E511647}" srcOrd="0" destOrd="0" presId="urn:microsoft.com/office/officeart/2008/layout/LinedList"/>
    <dgm:cxn modelId="{5FF86FFD-0FE1-44BC-9FE9-D6832A98E79D}" type="presOf" srcId="{6C27FA95-152F-4F2D-97FD-9D9A08416AD7}" destId="{1AA690A2-6477-464A-8F1D-02366951DE2D}" srcOrd="0" destOrd="0" presId="urn:microsoft.com/office/officeart/2008/layout/LinedList"/>
    <dgm:cxn modelId="{2B31B935-D6F5-4453-BBA6-AD149323EB14}" type="presParOf" srcId="{07D5555D-D184-4120-84C5-E741F1F8E4D6}" destId="{6E4B4AD0-9A93-4122-98A3-A0928F7773EB}" srcOrd="0" destOrd="0" presId="urn:microsoft.com/office/officeart/2008/layout/LinedList"/>
    <dgm:cxn modelId="{73CFA05E-0094-470B-ADE6-151EC314E1C1}" type="presParOf" srcId="{07D5555D-D184-4120-84C5-E741F1F8E4D6}" destId="{BEFCAB07-EF95-474A-9AA5-F0F8595D9A6F}" srcOrd="1" destOrd="0" presId="urn:microsoft.com/office/officeart/2008/layout/LinedList"/>
    <dgm:cxn modelId="{E5ACA045-DD3A-448E-8530-7D51A1CBFE36}" type="presParOf" srcId="{BEFCAB07-EF95-474A-9AA5-F0F8595D9A6F}" destId="{10738926-C2CA-4640-8051-ACC72E511647}" srcOrd="0" destOrd="0" presId="urn:microsoft.com/office/officeart/2008/layout/LinedList"/>
    <dgm:cxn modelId="{4C71EE0F-689B-457C-A65B-648295B122AE}" type="presParOf" srcId="{BEFCAB07-EF95-474A-9AA5-F0F8595D9A6F}" destId="{3E31685E-0B84-4E68-84BE-B3D3D33C3868}" srcOrd="1" destOrd="0" presId="urn:microsoft.com/office/officeart/2008/layout/LinedList"/>
    <dgm:cxn modelId="{FD8F3BAF-9A37-48FB-A298-221D05FCEBDB}" type="presParOf" srcId="{07D5555D-D184-4120-84C5-E741F1F8E4D6}" destId="{7EE04C15-280F-4CAF-9001-F9C35796103F}" srcOrd="2" destOrd="0" presId="urn:microsoft.com/office/officeart/2008/layout/LinedList"/>
    <dgm:cxn modelId="{AC816839-8D01-4AC6-9C29-03CFA8801AAF}" type="presParOf" srcId="{07D5555D-D184-4120-84C5-E741F1F8E4D6}" destId="{C65B3BA3-5EE1-4750-9BB2-474261F0492C}" srcOrd="3" destOrd="0" presId="urn:microsoft.com/office/officeart/2008/layout/LinedList"/>
    <dgm:cxn modelId="{3B579F3D-5942-44F9-96A1-319C179B9343}" type="presParOf" srcId="{C65B3BA3-5EE1-4750-9BB2-474261F0492C}" destId="{7CF583BD-72A1-4D9B-9B90-6C8AF7844F15}" srcOrd="0" destOrd="0" presId="urn:microsoft.com/office/officeart/2008/layout/LinedList"/>
    <dgm:cxn modelId="{A19D1871-81EB-4F45-B09C-0A8E055C10D1}" type="presParOf" srcId="{C65B3BA3-5EE1-4750-9BB2-474261F0492C}" destId="{A27EBED7-1719-49AC-AEDE-0EB4F307F65E}" srcOrd="1" destOrd="0" presId="urn:microsoft.com/office/officeart/2008/layout/LinedList"/>
    <dgm:cxn modelId="{28206E8A-E710-4322-8A9B-FD4A44321128}" type="presParOf" srcId="{07D5555D-D184-4120-84C5-E741F1F8E4D6}" destId="{067E88B6-B641-48D9-B5CD-02831E32CB8A}" srcOrd="4" destOrd="0" presId="urn:microsoft.com/office/officeart/2008/layout/LinedList"/>
    <dgm:cxn modelId="{F20E1952-C22C-4A4D-B6F2-A273AD996E08}" type="presParOf" srcId="{07D5555D-D184-4120-84C5-E741F1F8E4D6}" destId="{D088CFAE-7CB1-4E4C-90B2-E21F79B62481}" srcOrd="5" destOrd="0" presId="urn:microsoft.com/office/officeart/2008/layout/LinedList"/>
    <dgm:cxn modelId="{C1FC43B7-500B-496B-9409-7CDAB5A9C0F4}" type="presParOf" srcId="{D088CFAE-7CB1-4E4C-90B2-E21F79B62481}" destId="{36B5FB29-3870-4B33-981E-85C72BA57EAE}" srcOrd="0" destOrd="0" presId="urn:microsoft.com/office/officeart/2008/layout/LinedList"/>
    <dgm:cxn modelId="{8B23EDDD-F558-412C-BEE3-DE9E11AC6D1B}" type="presParOf" srcId="{D088CFAE-7CB1-4E4C-90B2-E21F79B62481}" destId="{770C90AE-498D-4034-AB66-3A9F24E53D01}" srcOrd="1" destOrd="0" presId="urn:microsoft.com/office/officeart/2008/layout/LinedList"/>
    <dgm:cxn modelId="{8F7C4A0B-B85E-402F-B972-81AB2B0E2044}" type="presParOf" srcId="{07D5555D-D184-4120-84C5-E741F1F8E4D6}" destId="{E74700A7-196C-4487-9081-A36F35CBF83D}" srcOrd="6" destOrd="0" presId="urn:microsoft.com/office/officeart/2008/layout/LinedList"/>
    <dgm:cxn modelId="{FA0A2794-9FEE-4DEB-A27E-B6009051B205}" type="presParOf" srcId="{07D5555D-D184-4120-84C5-E741F1F8E4D6}" destId="{D2C33480-1B8E-4ED0-9D2E-9DFE1C1A6696}" srcOrd="7" destOrd="0" presId="urn:microsoft.com/office/officeart/2008/layout/LinedList"/>
    <dgm:cxn modelId="{60705C56-4CF2-4436-810E-7B82E543B3A1}" type="presParOf" srcId="{D2C33480-1B8E-4ED0-9D2E-9DFE1C1A6696}" destId="{294AAE66-76AB-4F4D-9440-FAB3C7B90AEE}" srcOrd="0" destOrd="0" presId="urn:microsoft.com/office/officeart/2008/layout/LinedList"/>
    <dgm:cxn modelId="{671FFCDD-7C4D-4772-8720-DFA29FD5D88E}" type="presParOf" srcId="{D2C33480-1B8E-4ED0-9D2E-9DFE1C1A6696}" destId="{28496A6C-C5F1-4AE0-B7A0-70AAAA9EAB7F}" srcOrd="1" destOrd="0" presId="urn:microsoft.com/office/officeart/2008/layout/LinedList"/>
    <dgm:cxn modelId="{8CC0C49E-2E88-41F4-99C5-F540F65CFF26}" type="presParOf" srcId="{07D5555D-D184-4120-84C5-E741F1F8E4D6}" destId="{304ED4ED-301E-4AAC-A166-BC246D3A5D27}" srcOrd="8" destOrd="0" presId="urn:microsoft.com/office/officeart/2008/layout/LinedList"/>
    <dgm:cxn modelId="{AD0CB9C8-1489-483F-A751-C106A9415F2B}" type="presParOf" srcId="{07D5555D-D184-4120-84C5-E741F1F8E4D6}" destId="{6D13435E-6517-4AAE-9144-1956E7A8B33B}" srcOrd="9" destOrd="0" presId="urn:microsoft.com/office/officeart/2008/layout/LinedList"/>
    <dgm:cxn modelId="{B3596683-0DA7-4982-9AF1-762479C4DB03}" type="presParOf" srcId="{6D13435E-6517-4AAE-9144-1956E7A8B33B}" destId="{1AA690A2-6477-464A-8F1D-02366951DE2D}" srcOrd="0" destOrd="0" presId="urn:microsoft.com/office/officeart/2008/layout/LinedList"/>
    <dgm:cxn modelId="{4204E0CB-ACA6-4CC9-81EF-9390190E98EB}" type="presParOf" srcId="{6D13435E-6517-4AAE-9144-1956E7A8B33B}" destId="{DA3BE914-0289-4D27-A497-BEE23BD31548}" srcOrd="1" destOrd="0" presId="urn:microsoft.com/office/officeart/2008/layout/LinedList"/>
    <dgm:cxn modelId="{30FF4F62-BB31-4790-8E17-BA7261B874EC}" type="presParOf" srcId="{07D5555D-D184-4120-84C5-E741F1F8E4D6}" destId="{B116AB54-37AF-4307-8808-3B10EB16E216}" srcOrd="10" destOrd="0" presId="urn:microsoft.com/office/officeart/2008/layout/LinedList"/>
    <dgm:cxn modelId="{8A3B1E1C-BC84-47C8-ACB1-E2AB1FA379B5}" type="presParOf" srcId="{07D5555D-D184-4120-84C5-E741F1F8E4D6}" destId="{DCC88818-C696-4017-83C8-0A7D78BEA588}" srcOrd="11" destOrd="0" presId="urn:microsoft.com/office/officeart/2008/layout/LinedList"/>
    <dgm:cxn modelId="{212B5A71-4808-4A15-B35E-F1DA7F8F4D55}" type="presParOf" srcId="{DCC88818-C696-4017-83C8-0A7D78BEA588}" destId="{CBAF0C3F-93B2-4533-BB39-E52656E5D70D}" srcOrd="0" destOrd="0" presId="urn:microsoft.com/office/officeart/2008/layout/LinedList"/>
    <dgm:cxn modelId="{11763845-A011-405A-A20B-19F88921BB79}" type="presParOf" srcId="{DCC88818-C696-4017-83C8-0A7D78BEA588}" destId="{21830B3F-104D-4CA4-ADDA-DD62E1F3D8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A164DE-0595-4D4B-96AD-56FB6677A3ED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794B5F-2D39-4012-9E16-E2B078E5FF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Project tracking is stored in a single flat datasheet</a:t>
          </a:r>
        </a:p>
      </dgm:t>
    </dgm:pt>
    <dgm:pt modelId="{FC00D60E-13D8-4EAB-A1F0-A27BB199A47E}" type="parTrans" cxnId="{8F8AE544-9652-4B9C-BE04-DE0E1A2342B4}">
      <dgm:prSet/>
      <dgm:spPr/>
      <dgm:t>
        <a:bodyPr/>
        <a:lstStyle/>
        <a:p>
          <a:endParaRPr lang="en-US"/>
        </a:p>
      </dgm:t>
    </dgm:pt>
    <dgm:pt modelId="{418A982A-EE04-4781-A92A-F33EED87C0EB}" type="sibTrans" cxnId="{8F8AE544-9652-4B9C-BE04-DE0E1A2342B4}">
      <dgm:prSet/>
      <dgm:spPr/>
      <dgm:t>
        <a:bodyPr/>
        <a:lstStyle/>
        <a:p>
          <a:endParaRPr lang="en-US"/>
        </a:p>
      </dgm:t>
    </dgm:pt>
    <dgm:pt modelId="{92655570-4738-4093-B64C-00E27A72E5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Backup policies are distributed across multiple AWS accounts and regions</a:t>
          </a:r>
        </a:p>
      </dgm:t>
    </dgm:pt>
    <dgm:pt modelId="{F5EEDC57-DEC3-4E67-AECB-08404E96EA12}" type="parTrans" cxnId="{5898595B-8271-4CEB-A468-70680D612BB1}">
      <dgm:prSet/>
      <dgm:spPr/>
      <dgm:t>
        <a:bodyPr/>
        <a:lstStyle/>
        <a:p>
          <a:endParaRPr lang="en-US"/>
        </a:p>
      </dgm:t>
    </dgm:pt>
    <dgm:pt modelId="{4C978DA2-1E29-4187-AFFF-A685DD6FB9F7}" type="sibTrans" cxnId="{5898595B-8271-4CEB-A468-70680D612BB1}">
      <dgm:prSet/>
      <dgm:spPr/>
      <dgm:t>
        <a:bodyPr/>
        <a:lstStyle/>
        <a:p>
          <a:endParaRPr lang="en-US"/>
        </a:p>
      </dgm:t>
    </dgm:pt>
    <dgm:pt modelId="{3CEE45DE-41EB-41BB-BB27-52DE967631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Recovery testing is performed infrequently due to the time and effort required </a:t>
          </a:r>
        </a:p>
      </dgm:t>
    </dgm:pt>
    <dgm:pt modelId="{62E0BAE7-0659-40F2-9B56-6F95072F59F2}" type="parTrans" cxnId="{8672ED6C-3929-4B9E-87C0-8D5692CB78D7}">
      <dgm:prSet/>
      <dgm:spPr/>
      <dgm:t>
        <a:bodyPr/>
        <a:lstStyle/>
        <a:p>
          <a:endParaRPr lang="en-US"/>
        </a:p>
      </dgm:t>
    </dgm:pt>
    <dgm:pt modelId="{773C8699-3D12-42D2-AFD6-C637572F5C38}" type="sibTrans" cxnId="{8672ED6C-3929-4B9E-87C0-8D5692CB78D7}">
      <dgm:prSet/>
      <dgm:spPr/>
      <dgm:t>
        <a:bodyPr/>
        <a:lstStyle/>
        <a:p>
          <a:endParaRPr lang="en-US"/>
        </a:p>
      </dgm:t>
    </dgm:pt>
    <dgm:pt modelId="{C9CBDBB6-7871-4576-8B1F-7CE107A8F6F7}" type="pres">
      <dgm:prSet presAssocID="{76A164DE-0595-4D4B-96AD-56FB6677A3ED}" presName="root" presStyleCnt="0">
        <dgm:presLayoutVars>
          <dgm:dir/>
          <dgm:resizeHandles val="exact"/>
        </dgm:presLayoutVars>
      </dgm:prSet>
      <dgm:spPr/>
    </dgm:pt>
    <dgm:pt modelId="{3C84A55D-7D76-4A22-AC2A-751AB7289102}" type="pres">
      <dgm:prSet presAssocID="{31794B5F-2D39-4012-9E16-E2B078E5FF47}" presName="compNode" presStyleCnt="0"/>
      <dgm:spPr/>
    </dgm:pt>
    <dgm:pt modelId="{980191C5-7F2E-4980-BC5E-A0867F67A356}" type="pres">
      <dgm:prSet presAssocID="{31794B5F-2D39-4012-9E16-E2B078E5FF4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8611561-5172-4489-9C48-9176A0E05A51}" type="pres">
      <dgm:prSet presAssocID="{31794B5F-2D39-4012-9E16-E2B078E5FF47}" presName="spaceRect" presStyleCnt="0"/>
      <dgm:spPr/>
    </dgm:pt>
    <dgm:pt modelId="{2D4AC0C1-D78B-4529-8E79-3B82B3C3C0FD}" type="pres">
      <dgm:prSet presAssocID="{31794B5F-2D39-4012-9E16-E2B078E5FF47}" presName="textRect" presStyleLbl="revTx" presStyleIdx="0" presStyleCnt="3">
        <dgm:presLayoutVars>
          <dgm:chMax val="1"/>
          <dgm:chPref val="1"/>
        </dgm:presLayoutVars>
      </dgm:prSet>
      <dgm:spPr/>
    </dgm:pt>
    <dgm:pt modelId="{7B4CBB74-FB1E-4A5F-B3D5-1A3D98179B56}" type="pres">
      <dgm:prSet presAssocID="{418A982A-EE04-4781-A92A-F33EED87C0EB}" presName="sibTrans" presStyleCnt="0"/>
      <dgm:spPr/>
    </dgm:pt>
    <dgm:pt modelId="{FD956A57-2ED8-4370-A176-9B06A77857AD}" type="pres">
      <dgm:prSet presAssocID="{92655570-4738-4093-B64C-00E27A72E57E}" presName="compNode" presStyleCnt="0"/>
      <dgm:spPr/>
    </dgm:pt>
    <dgm:pt modelId="{5CC2B280-C574-4498-BDCE-932E20D088C0}" type="pres">
      <dgm:prSet presAssocID="{92655570-4738-4093-B64C-00E27A72E57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DBAB022B-F0A2-40A3-9D26-C699A53E3E2E}" type="pres">
      <dgm:prSet presAssocID="{92655570-4738-4093-B64C-00E27A72E57E}" presName="spaceRect" presStyleCnt="0"/>
      <dgm:spPr/>
    </dgm:pt>
    <dgm:pt modelId="{72C55FBE-C29F-49FF-820A-8FC7EDE03DE9}" type="pres">
      <dgm:prSet presAssocID="{92655570-4738-4093-B64C-00E27A72E57E}" presName="textRect" presStyleLbl="revTx" presStyleIdx="1" presStyleCnt="3">
        <dgm:presLayoutVars>
          <dgm:chMax val="1"/>
          <dgm:chPref val="1"/>
        </dgm:presLayoutVars>
      </dgm:prSet>
      <dgm:spPr/>
    </dgm:pt>
    <dgm:pt modelId="{DA90CB0A-7405-4181-877B-7AA4EFA8AD3E}" type="pres">
      <dgm:prSet presAssocID="{4C978DA2-1E29-4187-AFFF-A685DD6FB9F7}" presName="sibTrans" presStyleCnt="0"/>
      <dgm:spPr/>
    </dgm:pt>
    <dgm:pt modelId="{82595BC6-5EBC-4A5A-9432-67C1A08E11E2}" type="pres">
      <dgm:prSet presAssocID="{3CEE45DE-41EB-41BB-BB27-52DE96763196}" presName="compNode" presStyleCnt="0"/>
      <dgm:spPr/>
    </dgm:pt>
    <dgm:pt modelId="{566230C0-634B-4B95-8466-5B05EDC8B6C3}" type="pres">
      <dgm:prSet presAssocID="{3CEE45DE-41EB-41BB-BB27-52DE9676319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6B15A92-FC84-41F5-BED8-C0D2F7601865}" type="pres">
      <dgm:prSet presAssocID="{3CEE45DE-41EB-41BB-BB27-52DE96763196}" presName="spaceRect" presStyleCnt="0"/>
      <dgm:spPr/>
    </dgm:pt>
    <dgm:pt modelId="{5BA45AEB-92A7-403B-966E-9670E6918651}" type="pres">
      <dgm:prSet presAssocID="{3CEE45DE-41EB-41BB-BB27-52DE967631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40AB36-B525-4780-90EC-BB9C81B9E123}" type="presOf" srcId="{3CEE45DE-41EB-41BB-BB27-52DE96763196}" destId="{5BA45AEB-92A7-403B-966E-9670E6918651}" srcOrd="0" destOrd="0" presId="urn:microsoft.com/office/officeart/2018/2/layout/IconLabelList"/>
    <dgm:cxn modelId="{5898595B-8271-4CEB-A468-70680D612BB1}" srcId="{76A164DE-0595-4D4B-96AD-56FB6677A3ED}" destId="{92655570-4738-4093-B64C-00E27A72E57E}" srcOrd="1" destOrd="0" parTransId="{F5EEDC57-DEC3-4E67-AECB-08404E96EA12}" sibTransId="{4C978DA2-1E29-4187-AFFF-A685DD6FB9F7}"/>
    <dgm:cxn modelId="{8F8AE544-9652-4B9C-BE04-DE0E1A2342B4}" srcId="{76A164DE-0595-4D4B-96AD-56FB6677A3ED}" destId="{31794B5F-2D39-4012-9E16-E2B078E5FF47}" srcOrd="0" destOrd="0" parTransId="{FC00D60E-13D8-4EAB-A1F0-A27BB199A47E}" sibTransId="{418A982A-EE04-4781-A92A-F33EED87C0EB}"/>
    <dgm:cxn modelId="{8672ED6C-3929-4B9E-87C0-8D5692CB78D7}" srcId="{76A164DE-0595-4D4B-96AD-56FB6677A3ED}" destId="{3CEE45DE-41EB-41BB-BB27-52DE96763196}" srcOrd="2" destOrd="0" parTransId="{62E0BAE7-0659-40F2-9B56-6F95072F59F2}" sibTransId="{773C8699-3D12-42D2-AFD6-C637572F5C38}"/>
    <dgm:cxn modelId="{501BCE93-6BB4-4E51-9FD6-F3F95D1ADC46}" type="presOf" srcId="{31794B5F-2D39-4012-9E16-E2B078E5FF47}" destId="{2D4AC0C1-D78B-4529-8E79-3B82B3C3C0FD}" srcOrd="0" destOrd="0" presId="urn:microsoft.com/office/officeart/2018/2/layout/IconLabelList"/>
    <dgm:cxn modelId="{34B9C8DE-40F3-4A44-88B0-522A5F727779}" type="presOf" srcId="{92655570-4738-4093-B64C-00E27A72E57E}" destId="{72C55FBE-C29F-49FF-820A-8FC7EDE03DE9}" srcOrd="0" destOrd="0" presId="urn:microsoft.com/office/officeart/2018/2/layout/IconLabelList"/>
    <dgm:cxn modelId="{F2B9E1E2-7B3E-455C-A6BA-83B444AAF29E}" type="presOf" srcId="{76A164DE-0595-4D4B-96AD-56FB6677A3ED}" destId="{C9CBDBB6-7871-4576-8B1F-7CE107A8F6F7}" srcOrd="0" destOrd="0" presId="urn:microsoft.com/office/officeart/2018/2/layout/IconLabelList"/>
    <dgm:cxn modelId="{9E9E7A4F-81CF-447C-93AB-64E64C10A6C3}" type="presParOf" srcId="{C9CBDBB6-7871-4576-8B1F-7CE107A8F6F7}" destId="{3C84A55D-7D76-4A22-AC2A-751AB7289102}" srcOrd="0" destOrd="0" presId="urn:microsoft.com/office/officeart/2018/2/layout/IconLabelList"/>
    <dgm:cxn modelId="{D8319462-7952-471F-B51D-6410CF7463B5}" type="presParOf" srcId="{3C84A55D-7D76-4A22-AC2A-751AB7289102}" destId="{980191C5-7F2E-4980-BC5E-A0867F67A356}" srcOrd="0" destOrd="0" presId="urn:microsoft.com/office/officeart/2018/2/layout/IconLabelList"/>
    <dgm:cxn modelId="{29A3F9D5-0009-4BBA-AE0C-6D57AB552893}" type="presParOf" srcId="{3C84A55D-7D76-4A22-AC2A-751AB7289102}" destId="{78611561-5172-4489-9C48-9176A0E05A51}" srcOrd="1" destOrd="0" presId="urn:microsoft.com/office/officeart/2018/2/layout/IconLabelList"/>
    <dgm:cxn modelId="{480DAB16-107E-42DD-ABEA-4E119E6A4C6C}" type="presParOf" srcId="{3C84A55D-7D76-4A22-AC2A-751AB7289102}" destId="{2D4AC0C1-D78B-4529-8E79-3B82B3C3C0FD}" srcOrd="2" destOrd="0" presId="urn:microsoft.com/office/officeart/2018/2/layout/IconLabelList"/>
    <dgm:cxn modelId="{F0CD9382-79E1-40AD-B8BA-AEE2AE74511A}" type="presParOf" srcId="{C9CBDBB6-7871-4576-8B1F-7CE107A8F6F7}" destId="{7B4CBB74-FB1E-4A5F-B3D5-1A3D98179B56}" srcOrd="1" destOrd="0" presId="urn:microsoft.com/office/officeart/2018/2/layout/IconLabelList"/>
    <dgm:cxn modelId="{2E95961C-4348-4057-997A-E44F9D599A90}" type="presParOf" srcId="{C9CBDBB6-7871-4576-8B1F-7CE107A8F6F7}" destId="{FD956A57-2ED8-4370-A176-9B06A77857AD}" srcOrd="2" destOrd="0" presId="urn:microsoft.com/office/officeart/2018/2/layout/IconLabelList"/>
    <dgm:cxn modelId="{CE531F18-3C4D-4741-A2BF-AC9D80A3103A}" type="presParOf" srcId="{FD956A57-2ED8-4370-A176-9B06A77857AD}" destId="{5CC2B280-C574-4498-BDCE-932E20D088C0}" srcOrd="0" destOrd="0" presId="urn:microsoft.com/office/officeart/2018/2/layout/IconLabelList"/>
    <dgm:cxn modelId="{90B01E11-D020-4BF1-AEA8-F3538A72F557}" type="presParOf" srcId="{FD956A57-2ED8-4370-A176-9B06A77857AD}" destId="{DBAB022B-F0A2-40A3-9D26-C699A53E3E2E}" srcOrd="1" destOrd="0" presId="urn:microsoft.com/office/officeart/2018/2/layout/IconLabelList"/>
    <dgm:cxn modelId="{2CE48C2B-C0CA-460E-9514-6027B7B0C9CC}" type="presParOf" srcId="{FD956A57-2ED8-4370-A176-9B06A77857AD}" destId="{72C55FBE-C29F-49FF-820A-8FC7EDE03DE9}" srcOrd="2" destOrd="0" presId="urn:microsoft.com/office/officeart/2018/2/layout/IconLabelList"/>
    <dgm:cxn modelId="{14578F32-1578-4F5A-80AF-940B8A963B3E}" type="presParOf" srcId="{C9CBDBB6-7871-4576-8B1F-7CE107A8F6F7}" destId="{DA90CB0A-7405-4181-877B-7AA4EFA8AD3E}" srcOrd="3" destOrd="0" presId="urn:microsoft.com/office/officeart/2018/2/layout/IconLabelList"/>
    <dgm:cxn modelId="{8ADB46CF-BB71-4FD9-86EA-6C0FBAF4BEB9}" type="presParOf" srcId="{C9CBDBB6-7871-4576-8B1F-7CE107A8F6F7}" destId="{82595BC6-5EBC-4A5A-9432-67C1A08E11E2}" srcOrd="4" destOrd="0" presId="urn:microsoft.com/office/officeart/2018/2/layout/IconLabelList"/>
    <dgm:cxn modelId="{8610E060-F532-45F2-8539-F269F81C5359}" type="presParOf" srcId="{82595BC6-5EBC-4A5A-9432-67C1A08E11E2}" destId="{566230C0-634B-4B95-8466-5B05EDC8B6C3}" srcOrd="0" destOrd="0" presId="urn:microsoft.com/office/officeart/2018/2/layout/IconLabelList"/>
    <dgm:cxn modelId="{BBBF38A4-7BE2-49D4-96B8-1953F6DD65A1}" type="presParOf" srcId="{82595BC6-5EBC-4A5A-9432-67C1A08E11E2}" destId="{B6B15A92-FC84-41F5-BED8-C0D2F7601865}" srcOrd="1" destOrd="0" presId="urn:microsoft.com/office/officeart/2018/2/layout/IconLabelList"/>
    <dgm:cxn modelId="{648F57E7-257F-4DB2-B432-935C2D25539B}" type="presParOf" srcId="{82595BC6-5EBC-4A5A-9432-67C1A08E11E2}" destId="{5BA45AEB-92A7-403B-966E-9670E691865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4B4AD0-9A93-4122-98A3-A0928F7773EB}">
      <dsp:nvSpPr>
        <dsp:cNvPr id="0" name=""/>
        <dsp:cNvSpPr/>
      </dsp:nvSpPr>
      <dsp:spPr>
        <a:xfrm>
          <a:off x="0" y="2758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38926-C2CA-4640-8051-ACC72E511647}">
      <dsp:nvSpPr>
        <dsp:cNvPr id="0" name=""/>
        <dsp:cNvSpPr/>
      </dsp:nvSpPr>
      <dsp:spPr>
        <a:xfrm>
          <a:off x="0" y="2758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Nexus Consulting’s Current Challenges</a:t>
          </a:r>
        </a:p>
      </dsp:txBody>
      <dsp:txXfrm>
        <a:off x="0" y="2758"/>
        <a:ext cx="6797675" cy="940732"/>
      </dsp:txXfrm>
    </dsp:sp>
    <dsp:sp modelId="{7EE04C15-280F-4CAF-9001-F9C35796103F}">
      <dsp:nvSpPr>
        <dsp:cNvPr id="0" name=""/>
        <dsp:cNvSpPr/>
      </dsp:nvSpPr>
      <dsp:spPr>
        <a:xfrm>
          <a:off x="0" y="943491"/>
          <a:ext cx="67976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583BD-72A1-4D9B-9B90-6C8AF7844F15}">
      <dsp:nvSpPr>
        <dsp:cNvPr id="0" name=""/>
        <dsp:cNvSpPr/>
      </dsp:nvSpPr>
      <dsp:spPr>
        <a:xfrm>
          <a:off x="0" y="943491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Your Goals &amp; How monday.com Can Help</a:t>
          </a:r>
        </a:p>
      </dsp:txBody>
      <dsp:txXfrm>
        <a:off x="0" y="943491"/>
        <a:ext cx="6797675" cy="940732"/>
      </dsp:txXfrm>
    </dsp:sp>
    <dsp:sp modelId="{067E88B6-B641-48D9-B5CD-02831E32CB8A}">
      <dsp:nvSpPr>
        <dsp:cNvPr id="0" name=""/>
        <dsp:cNvSpPr/>
      </dsp:nvSpPr>
      <dsp:spPr>
        <a:xfrm>
          <a:off x="0" y="1884223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5FB29-3870-4B33-981E-85C72BA57EAE}">
      <dsp:nvSpPr>
        <dsp:cNvPr id="0" name=""/>
        <dsp:cNvSpPr/>
      </dsp:nvSpPr>
      <dsp:spPr>
        <a:xfrm>
          <a:off x="0" y="1884223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Migration Approach/Resulting Environment</a:t>
          </a:r>
        </a:p>
      </dsp:txBody>
      <dsp:txXfrm>
        <a:off x="0" y="1884223"/>
        <a:ext cx="6797675" cy="940732"/>
      </dsp:txXfrm>
    </dsp:sp>
    <dsp:sp modelId="{E74700A7-196C-4487-9081-A36F35CBF83D}">
      <dsp:nvSpPr>
        <dsp:cNvPr id="0" name=""/>
        <dsp:cNvSpPr/>
      </dsp:nvSpPr>
      <dsp:spPr>
        <a:xfrm>
          <a:off x="0" y="2824955"/>
          <a:ext cx="679767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AAE66-76AB-4F4D-9440-FAB3C7B90AEE}">
      <dsp:nvSpPr>
        <dsp:cNvPr id="0" name=""/>
        <dsp:cNvSpPr/>
      </dsp:nvSpPr>
      <dsp:spPr>
        <a:xfrm>
          <a:off x="0" y="2824956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Dashboard Overview</a:t>
          </a:r>
        </a:p>
      </dsp:txBody>
      <dsp:txXfrm>
        <a:off x="0" y="2824956"/>
        <a:ext cx="6797675" cy="940732"/>
      </dsp:txXfrm>
    </dsp:sp>
    <dsp:sp modelId="{304ED4ED-301E-4AAC-A166-BC246D3A5D27}">
      <dsp:nvSpPr>
        <dsp:cNvPr id="0" name=""/>
        <dsp:cNvSpPr/>
      </dsp:nvSpPr>
      <dsp:spPr>
        <a:xfrm>
          <a:off x="0" y="3765688"/>
          <a:ext cx="679767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690A2-6477-464A-8F1D-02366951DE2D}">
      <dsp:nvSpPr>
        <dsp:cNvPr id="0" name=""/>
        <dsp:cNvSpPr/>
      </dsp:nvSpPr>
      <dsp:spPr>
        <a:xfrm>
          <a:off x="0" y="3765688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Validation Checks</a:t>
          </a:r>
          <a:endParaRPr lang="en-US" sz="2700" kern="1200" dirty="0"/>
        </a:p>
      </dsp:txBody>
      <dsp:txXfrm>
        <a:off x="0" y="3765688"/>
        <a:ext cx="6797675" cy="940732"/>
      </dsp:txXfrm>
    </dsp:sp>
    <dsp:sp modelId="{B116AB54-37AF-4307-8808-3B10EB16E216}">
      <dsp:nvSpPr>
        <dsp:cNvPr id="0" name=""/>
        <dsp:cNvSpPr/>
      </dsp:nvSpPr>
      <dsp:spPr>
        <a:xfrm>
          <a:off x="0" y="4706420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F0C3F-93B2-4533-BB39-E52656E5D70D}">
      <dsp:nvSpPr>
        <dsp:cNvPr id="0" name=""/>
        <dsp:cNvSpPr/>
      </dsp:nvSpPr>
      <dsp:spPr>
        <a:xfrm>
          <a:off x="0" y="4706420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Q&amp;A</a:t>
          </a:r>
          <a:endParaRPr lang="en-US" sz="2700" kern="1200" dirty="0"/>
        </a:p>
      </dsp:txBody>
      <dsp:txXfrm>
        <a:off x="0" y="4706420"/>
        <a:ext cx="6797675" cy="940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91C5-7F2E-4980-BC5E-A0867F67A356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AC0C1-D78B-4529-8E79-3B82B3C3C0FD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Project tracking is stored in a single flat datasheet</a:t>
          </a:r>
        </a:p>
      </dsp:txBody>
      <dsp:txXfrm>
        <a:off x="285097" y="2346338"/>
        <a:ext cx="2832300" cy="720000"/>
      </dsp:txXfrm>
    </dsp:sp>
    <dsp:sp modelId="{5CC2B280-C574-4498-BDCE-932E20D088C0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55FBE-C29F-49FF-820A-8FC7EDE03DE9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Backup policies are distributed across multiple AWS accounts and regions</a:t>
          </a:r>
        </a:p>
      </dsp:txBody>
      <dsp:txXfrm>
        <a:off x="3613050" y="2346338"/>
        <a:ext cx="2832300" cy="720000"/>
      </dsp:txXfrm>
    </dsp:sp>
    <dsp:sp modelId="{566230C0-634B-4B95-8466-5B05EDC8B6C3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45AEB-92A7-403B-966E-9670E6918651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Recovery testing is performed infrequently due to the time and effort required </a:t>
          </a:r>
        </a:p>
      </dsp:txBody>
      <dsp:txXfrm>
        <a:off x="6941002" y="2346338"/>
        <a:ext cx="28323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BA6D5-B3A1-456D-ACD7-F342FD126B0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D551F-8423-4A18-9ADE-B8B3B06A7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2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ED69A-E49B-48E5-9959-86F3CC7EE8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876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ED69A-E49B-48E5-9959-86F3CC7EE8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741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D551F-8423-4A18-9ADE-B8B3B06A7F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43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D2CB-B686-9160-19DC-10069470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C7EFD-2F9C-A531-5D82-D3545EE97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0A07B-118F-36AB-974A-574367932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780A8-6DB2-1D5B-CA98-84B766010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ED69A-E49B-48E5-9959-86F3CC7EE8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493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ED69A-E49B-48E5-9959-86F3CC7EE8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85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ED69A-E49B-48E5-9959-86F3CC7EE8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466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949E-E9D1-FCB6-551F-26EC60F49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4B572-750B-AD05-A81F-AE878195A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E92F0-DBBD-382D-4C31-EE7082E7A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5B615-8761-009A-AF93-2B930AEC3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ED69A-E49B-48E5-9959-86F3CC7EE8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598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B7AB-7493-7C2A-6760-2E2E15CF1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1D614-0D9B-C77D-791F-F9D362162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B4646-4CD8-101F-3062-1D6C8BCC7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71F22-A429-3716-80B3-7CDCE7E03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ED69A-E49B-48E5-9959-86F3CC7EE8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44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7A82-4A43-9856-AFED-3334A1A2F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95044-D2B6-DE09-5472-5C6C0E518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60FD2-8705-B76E-5E13-81CADC4A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35D9D-1E81-31C2-BED7-5739815F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E9620-8D5C-F825-C6ED-5042110D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8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06FF-B34D-B9EC-487C-6C3E85B9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3B58D-4527-0EFA-CD26-FB08CDF9B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41BC5-EE7A-0A25-19C0-7AF4BCBE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156FC-1B99-B868-614E-9F1319450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0C980-A32D-0F95-7EC6-1A9F5DE0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97676-FECF-AB9E-08BC-B117157D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1FF3D-360D-1118-AAB3-1E408E35A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13B44-A214-9AB2-EEBB-50CC29C6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15682-6759-EE91-9338-E5D6E7D6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2974C-5D82-841D-E03F-42507175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8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1DE6-DF87-39C7-C980-0AE13F6D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22940-C7C7-52DC-9BEA-872597FD3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23077-87C2-BA77-7670-688782E96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26D34-57AA-B8F5-9293-5B00BDBA4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7BEC3-1995-A836-DA3C-44B7285D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FC9B1-DA74-DD10-E150-055F54276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32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3BA3-8511-CB7E-03E6-05B5779B0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8F7E8-C2F5-9D3D-5D13-75530526B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9508D-F6A1-FAB5-68D4-384FF4382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312F9B-BE73-D7CA-47C8-B202DEA56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2D7147-AE5C-AF04-E111-F7783CEE9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F1910-CEA8-183A-D3D8-D608C01D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092F67-B320-1C99-A4D4-475E6800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BA60A-F32F-9792-D957-C4AED8AFE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61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5A8A-A30B-FDC0-C7E0-C415CD51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090F9-173E-74EC-6C2C-F67A0581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984C9-707F-FD6A-5025-6BE2DA02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BBB09-B327-64BE-5CFA-C9BCC2D2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3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B958E-6FA4-8782-4205-0416D9F1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A3318-CF2C-D968-4C4A-57B8BCE0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31A97-256B-54D2-4E59-6684284E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07B3-6DBF-DDCD-13CA-AF1DC900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E97C3-BBC4-1534-CA10-A17190D38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78927-5E37-D8A6-1936-CC27CD504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0E3F9-8DAA-8D38-C78C-6DD24AD0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EB00F-B2A5-9413-9F46-9BF83A96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75D36-F65E-7790-4B82-E394B1C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3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91F8-84BB-9F1F-7C7F-B7EB05C8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A5903-05F2-788F-9862-B36644D83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7644D-CB56-A8E5-29FB-EA4585AB4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6568E-7C59-55EE-B2AA-C49BCF41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66CF3-D151-3357-CB37-F912050CB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19BF5-53FD-5F7C-E189-06283355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0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1457-BAD3-B95B-14C6-91CB92D7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2D0A0-1D2F-B02D-2A08-883E86835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DD851-E0AB-9C10-B62F-C9C96CA0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A7B94-940A-E0DE-AA73-C4F9B9DD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100F6-811D-3925-61E4-F9F78A8E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0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188B6-7878-7112-4887-F2BBB9A2B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3C6F8-686C-8B6E-482F-9F347AD39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A5A75-1147-9CE3-5D62-E8E397B9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1ECC2-D8CB-B1E0-AD83-89B865B3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AB9C5-5C5A-4646-9FCC-F9050CB5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95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915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317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650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9859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274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78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589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570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9319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935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39861E-E570-7F62-84E0-F507B353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63FF9-3DD7-350A-7AC5-43F4E089F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270BF-2176-C6B7-B101-3D510DF33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CB02C-87E3-45F9-ADE7-C0BF531B3DB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7C454-E05A-B938-737D-72E26C65D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9B3B1-3760-7E9F-41EA-604C50590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7C434-3633-4CD3-B431-7BD8B0E42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31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D1CDA-7DEA-2879-B1EC-D80AE100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5600"/>
              <a:t>Modernizing Nexus Consulting’s Project Operations with monday.com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C1E81-0328-7A79-D3C9-06DCEC858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Transforming Spreadsheet-Based Tracking into Scalable Workflows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B2E273C-989E-EA83-8FE8-8A3F39685A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72" r="10738"/>
          <a:stretch>
            <a:fillRect/>
          </a:stretch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6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EBA82-AA5A-AD3F-D609-8E1C145D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928F4F-3317-5E8F-A247-226711B573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63524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857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3209-FBE7-461E-A53D-137F7B6A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Environment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F5F76-30FD-8BD0-6F6C-22D78C7D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Engagement information is duplicated across multiple rows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Workflow statuses are used interchangeably across teams with no enforcement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Reporting requires manual exports and rebuilding pivot tables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spreadsheet has lost team trust as a system of record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Engagement ownership is buried in the flat structure</a:t>
            </a:r>
          </a:p>
        </p:txBody>
      </p:sp>
    </p:spTree>
    <p:extLst>
      <p:ext uri="{BB962C8B-B14F-4D97-AF65-F5344CB8AC3E}">
        <p14:creationId xmlns:p14="http://schemas.microsoft.com/office/powerpoint/2010/main" val="10128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C1750-FEFE-FD91-979F-CEA2AD88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4B27-3BDC-EDD6-B7FA-85D56379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Goals &amp; How monday.com Can Help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DE7F29-A824-A568-E51E-8A58C05381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191595"/>
              </p:ext>
            </p:extLst>
          </p:nvPr>
        </p:nvGraphicFramePr>
        <p:xfrm>
          <a:off x="1096963" y="2040464"/>
          <a:ext cx="10058400" cy="4084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653917248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83985978"/>
                    </a:ext>
                  </a:extLst>
                </a:gridCol>
              </a:tblGrid>
              <a:tr h="461581">
                <a:tc>
                  <a:txBody>
                    <a:bodyPr/>
                    <a:lstStyle/>
                    <a:p>
                      <a:r>
                        <a:rPr lang="en-US" sz="1900" dirty="0"/>
                        <a:t>Nexus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How </a:t>
                      </a:r>
                      <a:r>
                        <a:rPr lang="en-US" sz="1900" dirty="0" err="1"/>
                        <a:t>monday</a:t>
                      </a:r>
                      <a:r>
                        <a:rPr lang="en-US" sz="1900" dirty="0"/>
                        <a:t> Can Help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45850"/>
                  </a:ext>
                </a:extLst>
              </a:tr>
              <a:tr h="757519">
                <a:tc>
                  <a:txBody>
                    <a:bodyPr/>
                    <a:lstStyle/>
                    <a:p>
                      <a:r>
                        <a:rPr lang="en-US" sz="1800" dirty="0"/>
                        <a:t>Separate engagement and deliverable tracking while preserving their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Two connected boards linked via Connect Boards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06138"/>
                  </a:ext>
                </a:extLst>
              </a:tr>
              <a:tr h="757519">
                <a:tc>
                  <a:txBody>
                    <a:bodyPr/>
                    <a:lstStyle/>
                    <a:p>
                      <a:r>
                        <a:rPr lang="en-US" sz="1800" dirty="0"/>
                        <a:t>Standardize workflow status tracking across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Status columns with predefined </a:t>
                      </a:r>
                      <a:r>
                        <a:rPr lang="en-US" sz="1800" dirty="0" err="1"/>
                        <a:t>lablels</a:t>
                      </a:r>
                      <a:r>
                        <a:rPr lang="en-US" sz="18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684932"/>
                  </a:ext>
                </a:extLst>
              </a:tr>
              <a:tr h="757519">
                <a:tc>
                  <a:txBody>
                    <a:bodyPr/>
                    <a:lstStyle/>
                    <a:p>
                      <a:r>
                        <a:rPr lang="en-US" sz="1800" dirty="0"/>
                        <a:t>Provide leadership with a live view of engagement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Shareable Monday dashboards replace manual exports and pivot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38313"/>
                  </a:ext>
                </a:extLst>
              </a:tr>
              <a:tr h="592926">
                <a:tc>
                  <a:txBody>
                    <a:bodyPr/>
                    <a:lstStyle/>
                    <a:p>
                      <a:r>
                        <a:rPr lang="en-US" sz="1800" dirty="0"/>
                        <a:t>Establish a trusted single source of 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One platform for both data entry and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512381"/>
                  </a:ext>
                </a:extLst>
              </a:tr>
              <a:tr h="757519">
                <a:tc>
                  <a:txBody>
                    <a:bodyPr/>
                    <a:lstStyle/>
                    <a:p>
                      <a:r>
                        <a:rPr lang="en-US" sz="1800" dirty="0"/>
                        <a:t>Quickly identify engagement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Engagement Lead field surfaced directly in boards and dashboards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834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18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E362070-691D-44DB-98D4-BC61774B0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B0635-2C7A-D604-A642-0B4C7EB30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1"/>
            <a:ext cx="7319175" cy="33749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Live Demo </a:t>
            </a:r>
          </a:p>
        </p:txBody>
      </p:sp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7DF6B735-C958-F56E-F9BE-AC6E8E942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973" y="1790485"/>
            <a:ext cx="2758331" cy="275833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7EFE9C-DAE7-4ECA-BDB2-34E2534B8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8251" y="4294753"/>
            <a:ext cx="71323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B1480-5B24-4B37-B70E-C74945DD9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774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4C29C-7E32-4857-6AEB-125A03EB7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2582"/>
            <a:ext cx="5921921" cy="5126203"/>
          </a:xfrm>
        </p:spPr>
        <p:txBody>
          <a:bodyPr anchor="ctr">
            <a:normAutofit/>
          </a:bodyPr>
          <a:lstStyle/>
          <a:p>
            <a:pPr algn="r"/>
            <a:r>
              <a:rPr lang="en-US" sz="8800"/>
              <a:t>Q&amp;A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50021" y="1595483"/>
            <a:ext cx="0" cy="320040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1E907E6-DC1F-49A9-A946-CEB2CB330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145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81DAE-4A40-E518-1C06-D8F9EB2D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Current Environment Overview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8DBB3143-359B-45E6-1F98-ED1A31760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63847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118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28E5-7689-A7F7-B4AF-159E11A6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F2AB-5F31-85C3-9473-00832CD3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vs. Tomorrow with N2W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2800B7-44BF-35B0-E3EB-64151F64D9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098711"/>
              </p:ext>
            </p:extLst>
          </p:nvPr>
        </p:nvGraphicFramePr>
        <p:xfrm>
          <a:off x="1096963" y="2040464"/>
          <a:ext cx="10058400" cy="3704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653917248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83985978"/>
                    </a:ext>
                  </a:extLst>
                </a:gridCol>
              </a:tblGrid>
              <a:tr h="452986">
                <a:tc>
                  <a:txBody>
                    <a:bodyPr/>
                    <a:lstStyle/>
                    <a:p>
                      <a:r>
                        <a:rPr lang="en-US" dirty="0"/>
                        <a:t>AWS Backup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N2W Tomorrow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45850"/>
                  </a:ext>
                </a:extLst>
              </a:tr>
              <a:tr h="781866">
                <a:tc>
                  <a:txBody>
                    <a:bodyPr/>
                    <a:lstStyle/>
                    <a:p>
                      <a:r>
                        <a:rPr lang="en-US" dirty="0"/>
                        <a:t>Manual setup and maintenance across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Unified backup policies across EC2, RDS, and EFS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06138"/>
                  </a:ext>
                </a:extLst>
              </a:tr>
              <a:tr h="781866">
                <a:tc>
                  <a:txBody>
                    <a:bodyPr/>
                    <a:lstStyle/>
                    <a:p>
                      <a:r>
                        <a:rPr lang="en-US" dirty="0"/>
                        <a:t>Limited cross-region and cross-account recovery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Built-in cross region and cross-account recovery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684932"/>
                  </a:ext>
                </a:extLst>
              </a:tr>
              <a:tr h="781866">
                <a:tc>
                  <a:txBody>
                    <a:bodyPr/>
                    <a:lstStyle/>
                    <a:p>
                      <a:r>
                        <a:rPr lang="en-US" dirty="0"/>
                        <a:t>No safe way to test disaster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Non-disruptive ‘Dry Run’ testing for DR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38313"/>
                  </a:ext>
                </a:extLst>
              </a:tr>
              <a:tr h="452986">
                <a:tc>
                  <a:txBody>
                    <a:bodyPr/>
                    <a:lstStyle/>
                    <a:p>
                      <a:r>
                        <a:rPr lang="en-US" dirty="0"/>
                        <a:t>Basic lifecycle management requires scripting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lifecycle archiving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512381"/>
                  </a:ext>
                </a:extLst>
              </a:tr>
              <a:tr h="452986">
                <a:tc>
                  <a:txBody>
                    <a:bodyPr/>
                    <a:lstStyle/>
                    <a:p>
                      <a:r>
                        <a:rPr lang="en-US" dirty="0"/>
                        <a:t>Minimal cost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Centralized cost visibility with built-in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604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53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B08EB-D4E6-7CEE-F721-7ADCBA1B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4CA45-A7B5-F016-39B3-B44727D5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 Overview – Why N2W Wins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C8A513-1F03-F947-03A4-C4F6CD9A90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869461"/>
              </p:ext>
            </p:extLst>
          </p:nvPr>
        </p:nvGraphicFramePr>
        <p:xfrm>
          <a:off x="1096963" y="2040464"/>
          <a:ext cx="10058400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8178211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65391724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38398597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19056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Limitations vs N2W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N2W 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4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Veeam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Hybrid-cloud support, integrates with on-prem VMs and multiple clouds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Complex setup, slower AWS integration, per-instance licensing adds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AWS-native, deploys in minutes, license-simple, and optimized for AWS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06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Druva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Fully SaaS with strong compliance &amp; global deduplication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backup frequency, data stored outside AWS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Runs inside your AWS, faster RPO/RTO, full control &amp; visibility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68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Rubrik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Enterprise-grade security, immutability, global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 cost &amp; complexity, overkill for AWS –only workloads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Lightweight AWS-focused solution with similar recovery speed at lower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33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Clumio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SaaS backup with air-gapped protection for S3/DynamoDB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Fixed schedules, vendor dependency, limited configurability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Same AWS protection with higher flexibility and in-account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51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03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Arial Nova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17186</TotalTime>
  <Words>435</Words>
  <Application>Microsoft Office PowerPoint</Application>
  <PresentationFormat>Widescreen</PresentationFormat>
  <Paragraphs>76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Arial Nova</vt:lpstr>
      <vt:lpstr>Arial Nova Light</vt:lpstr>
      <vt:lpstr>Calibri</vt:lpstr>
      <vt:lpstr>Wingdings</vt:lpstr>
      <vt:lpstr>Office Theme</vt:lpstr>
      <vt:lpstr>RetrospectVTI</vt:lpstr>
      <vt:lpstr>Modernizing Nexus Consulting’s Project Operations with monday.com</vt:lpstr>
      <vt:lpstr>Agenda</vt:lpstr>
      <vt:lpstr>Current Environment Overview</vt:lpstr>
      <vt:lpstr>Your Goals &amp; How monday.com Can Help</vt:lpstr>
      <vt:lpstr>Live Demo </vt:lpstr>
      <vt:lpstr>Q&amp;A</vt:lpstr>
      <vt:lpstr>Current Environment Overview</vt:lpstr>
      <vt:lpstr>Today vs. Tomorrow with N2W</vt:lpstr>
      <vt:lpstr>Competitor Overview – Why N2W Wins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Zain Makda</dc:creator>
  <cp:lastModifiedBy>Zain Makda</cp:lastModifiedBy>
  <cp:revision>5</cp:revision>
  <dcterms:created xsi:type="dcterms:W3CDTF">2025-10-27T13:31:37Z</dcterms:created>
  <dcterms:modified xsi:type="dcterms:W3CDTF">2026-03-13T19:19:41Z</dcterms:modified>
</cp:coreProperties>
</file>